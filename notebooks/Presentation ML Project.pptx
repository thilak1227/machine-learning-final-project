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x="18288000" cy="10287000"/>
  <p:notesSz cx="6858000" cy="9144000"/>
  <p:embeddedFontLst>
    <p:embeddedFont>
      <p:font typeface="Abril Fatface" charset="1" panose="02000503000000020003"/>
      <p:regular r:id="rId22"/>
    </p:embeddedFont>
    <p:embeddedFont>
      <p:font typeface="Telegraf" charset="1" panose="00000500000000000000"/>
      <p:regular r:id="rId23"/>
    </p:embeddedFont>
    <p:embeddedFont>
      <p:font typeface="Arapey" charset="1" panose="02000000000000000000"/>
      <p:regular r:id="rId24"/>
    </p:embeddedFont>
    <p:embeddedFont>
      <p:font typeface="Arapey Bold" charset="1" panose="0200000000000000000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FC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009650"/>
            <a:ext cx="16230600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2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Abril Fatface"/>
                <a:ea typeface="Abril Fatface"/>
                <a:cs typeface="Abril Fatface"/>
                <a:sym typeface="Abril Fatface"/>
              </a:rPr>
              <a:t>AI-BASED EARLY PREDICTION OF CHRONIC KIDNEY DISEASE (CKD) USING MACHINE LEARNING MODELS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972819" y="6511837"/>
            <a:ext cx="323850" cy="323850"/>
            <a:chOff x="0" y="0"/>
            <a:chExt cx="6350000" cy="6350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972819" y="7427102"/>
            <a:ext cx="323850" cy="323850"/>
            <a:chOff x="0" y="0"/>
            <a:chExt cx="6350000" cy="6350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1972819" y="8342367"/>
            <a:ext cx="323850" cy="323850"/>
            <a:chOff x="0" y="0"/>
            <a:chExt cx="6350000" cy="635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2816601" y="6261440"/>
            <a:ext cx="12654798" cy="6943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04"/>
              </a:lnSpc>
            </a:pPr>
            <a:r>
              <a:rPr lang="en-US" sz="3789">
                <a:solidFill>
                  <a:srgbClr val="000000"/>
                </a:solidFill>
                <a:latin typeface="Telegraf"/>
                <a:ea typeface="Telegraf"/>
                <a:cs typeface="Telegraf"/>
                <a:sym typeface="Telegraf"/>
              </a:rPr>
              <a:t>CAROLLISA A/P WADIWILL (202501010307) - BCSSE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972819" y="9256767"/>
            <a:ext cx="323850" cy="323850"/>
            <a:chOff x="0" y="0"/>
            <a:chExt cx="6350000" cy="6350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2816601" y="7181806"/>
            <a:ext cx="13667612" cy="6943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04"/>
              </a:lnSpc>
            </a:pPr>
            <a:r>
              <a:rPr lang="en-US" sz="3789">
                <a:solidFill>
                  <a:srgbClr val="000000"/>
                </a:solidFill>
                <a:latin typeface="Telegraf"/>
                <a:ea typeface="Telegraf"/>
                <a:cs typeface="Telegraf"/>
                <a:sym typeface="Telegraf"/>
              </a:rPr>
              <a:t>THILAK A/L KAMALISH KUMAR (202309010104) - BIT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816601" y="8095213"/>
            <a:ext cx="13667612" cy="6943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04"/>
              </a:lnSpc>
            </a:pPr>
            <a:r>
              <a:rPr lang="en-US" sz="3789">
                <a:solidFill>
                  <a:srgbClr val="000000"/>
                </a:solidFill>
                <a:latin typeface="Telegraf"/>
                <a:ea typeface="Telegraf"/>
                <a:cs typeface="Telegraf"/>
                <a:sym typeface="Telegraf"/>
              </a:rPr>
              <a:t>SIJAN MD SHAHDAT HOSSAIN (202501010545) - BCSSE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816601" y="9009613"/>
            <a:ext cx="13667612" cy="6943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04"/>
              </a:lnSpc>
            </a:pPr>
            <a:r>
              <a:rPr lang="en-US" sz="3789">
                <a:solidFill>
                  <a:srgbClr val="000000"/>
                </a:solidFill>
                <a:latin typeface="Telegraf"/>
                <a:ea typeface="Telegraf"/>
                <a:cs typeface="Telegraf"/>
                <a:sym typeface="Telegraf"/>
              </a:rPr>
              <a:t>DABOOSH AHMED MAHMOOD ALI (202501010453) - BCSSE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28700" y="3947027"/>
            <a:ext cx="16230600" cy="161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500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BIT 4333</a:t>
            </a:r>
          </a:p>
          <a:p>
            <a:pPr algn="ctr">
              <a:lnSpc>
                <a:spcPts val="4200"/>
              </a:lnSpc>
            </a:pPr>
            <a:r>
              <a:rPr lang="en-US" sz="3500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INTRODUCTION TO MACHINE LEARNING</a:t>
            </a:r>
          </a:p>
          <a:p>
            <a:pPr algn="ctr" marL="0" indent="0" lvl="0">
              <a:lnSpc>
                <a:spcPts val="4200"/>
              </a:lnSpc>
              <a:spcBef>
                <a:spcPct val="0"/>
              </a:spcBef>
            </a:pPr>
            <a:r>
              <a:rPr lang="en-US" sz="3500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FINAL PROJECT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FC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537571"/>
            <a:ext cx="9557941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5000">
                <a:solidFill>
                  <a:srgbClr val="000000"/>
                </a:solidFill>
                <a:latin typeface="Arapey Bold"/>
                <a:ea typeface="Arapey Bold"/>
                <a:cs typeface="Arapey Bold"/>
                <a:sym typeface="Arapey Bold"/>
              </a:rPr>
              <a:t>EXECUTIVE SUMMARY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043238"/>
            <a:ext cx="16230600" cy="420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CKD is a growing global health concern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Early stages show little/no symptoms → difficult to detect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Project aims to build ML model to predict early CKD using simple clinical indicators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Tested multiple models to find the best performer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Deployed using a Streamlit interface for instant prediction</a:t>
            </a:r>
          </a:p>
          <a:p>
            <a:pPr algn="l" marL="0" indent="0" lvl="0">
              <a:lnSpc>
                <a:spcPts val="479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FC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537571"/>
            <a:ext cx="9557941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5000">
                <a:solidFill>
                  <a:srgbClr val="000000"/>
                </a:solidFill>
                <a:latin typeface="Arapey Bold"/>
                <a:ea typeface="Arapey Bold"/>
                <a:cs typeface="Arapey Bold"/>
                <a:sym typeface="Arapey Bold"/>
              </a:rPr>
              <a:t>PROBLEM STATEMENT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043238"/>
            <a:ext cx="16230600" cy="420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Many patients discover CKD only at late stages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Early CKD symptoms are mild or invisible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Doctors rely on multiple indicators (BP, creatinine, hemoglobin, urine protein)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Manua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l interpretation can be inconsistent or time-consuming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Need for automated, fast, and accurate prediction support</a:t>
            </a:r>
          </a:p>
          <a:p>
            <a:pPr algn="l" marL="0" indent="0" lvl="0">
              <a:lnSpc>
                <a:spcPts val="479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FC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537571"/>
            <a:ext cx="9557941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5000">
                <a:solidFill>
                  <a:srgbClr val="000000"/>
                </a:solidFill>
                <a:latin typeface="Arapey Bold"/>
                <a:ea typeface="Arapey Bold"/>
                <a:cs typeface="Arapey Bold"/>
                <a:sym typeface="Arapey Bold"/>
              </a:rPr>
              <a:t>PROJECT OBJECTIVES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643312"/>
            <a:ext cx="16230600" cy="3000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Develop a machine-learning-based tool for early CKD detection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Analyze important medical attributes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C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ompare multiple models to identify best performer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D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eploy a user-friendly interface for real-time predictions</a:t>
            </a:r>
          </a:p>
          <a:p>
            <a:pPr algn="l" marL="0" indent="0" lvl="0">
              <a:lnSpc>
                <a:spcPts val="479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FC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537571"/>
            <a:ext cx="9557941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5000">
                <a:solidFill>
                  <a:srgbClr val="000000"/>
                </a:solidFill>
                <a:latin typeface="Arapey Bold"/>
                <a:ea typeface="Arapey Bold"/>
                <a:cs typeface="Arapey Bold"/>
                <a:sym typeface="Arapey Bold"/>
              </a:rPr>
              <a:t>DATASET INFORMATION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343275"/>
            <a:ext cx="16230600" cy="3600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Source: Kaggle / UCI CKD Dataset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400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 patient records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25 clinical attributes + 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CKD l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abel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Includes: BP, sugar, albumin, hemoglobin, creatinine, etc.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Balanced dataset of CKD and non-CKD cases</a:t>
            </a:r>
          </a:p>
          <a:p>
            <a:pPr algn="l" marL="0" indent="0" lvl="0">
              <a:lnSpc>
                <a:spcPts val="479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FC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537571"/>
            <a:ext cx="9557941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5000">
                <a:solidFill>
                  <a:srgbClr val="000000"/>
                </a:solidFill>
                <a:latin typeface="Arapey Bold"/>
                <a:ea typeface="Arapey Bold"/>
                <a:cs typeface="Arapey Bold"/>
                <a:sym typeface="Arapey Bold"/>
              </a:rPr>
              <a:t>METHODOLOGY OVERVIEW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043238"/>
            <a:ext cx="16230600" cy="420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Data Collection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Data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 Cleaning &amp; Preprocessing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Feature Se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l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ection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Mo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del Development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Mode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l Evaluation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Deployment using Streamlit</a:t>
            </a:r>
          </a:p>
          <a:p>
            <a:pPr algn="l" marL="0" indent="0" lvl="0">
              <a:lnSpc>
                <a:spcPts val="479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FC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537571"/>
            <a:ext cx="9557941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5000">
                <a:solidFill>
                  <a:srgbClr val="000000"/>
                </a:solidFill>
                <a:latin typeface="Arapey Bold"/>
                <a:ea typeface="Arapey Bold"/>
                <a:cs typeface="Arapey Bold"/>
                <a:sym typeface="Arapey Bold"/>
              </a:rPr>
              <a:t>DATA PREPROCESSING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2818335"/>
            <a:ext cx="16230600" cy="6000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Cleaned inconsistent tex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t (e.g.,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 Yes/yes)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Handled missing values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Numeric → Median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C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ategorical → Most frequent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Enc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o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ded categorical features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Scaled numeric features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Train-test sp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lit with stratification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Sav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ed artifacts: encoder.pkl, scaler.pkl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Output: Clean dataset ready for modelling</a:t>
            </a:r>
          </a:p>
          <a:p>
            <a:pPr algn="l" marL="0" indent="0" lvl="0">
              <a:lnSpc>
                <a:spcPts val="479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FC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537571"/>
            <a:ext cx="9557941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5000">
                <a:solidFill>
                  <a:srgbClr val="000000"/>
                </a:solidFill>
                <a:latin typeface="Arapey Bold"/>
                <a:ea typeface="Arapey Bold"/>
                <a:cs typeface="Arapey Bold"/>
                <a:sym typeface="Arapey Bold"/>
              </a:rPr>
              <a:t>METHODOLOGY OVERVIEW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2957512"/>
            <a:ext cx="7433017" cy="4800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000000"/>
                </a:solidFill>
                <a:latin typeface="Arapey Bold"/>
                <a:ea typeface="Arapey Bold"/>
                <a:cs typeface="Arapey Bold"/>
                <a:sym typeface="Arapey Bold"/>
              </a:rPr>
              <a:t>Models Trained</a:t>
            </a:r>
          </a:p>
          <a:p>
            <a:pPr algn="l">
              <a:lnSpc>
                <a:spcPts val="4799"/>
              </a:lnSpc>
            </a:pP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Logistic Regression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K-N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earest Neighbors (KNN)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Decision Tree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Random Forest</a:t>
            </a:r>
          </a:p>
          <a:p>
            <a:pPr algn="l">
              <a:lnSpc>
                <a:spcPts val="4799"/>
              </a:lnSpc>
            </a:pPr>
          </a:p>
          <a:p>
            <a:pPr algn="l" marL="0" indent="0" lvl="0">
              <a:lnSpc>
                <a:spcPts val="4799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9826283" y="2957512"/>
            <a:ext cx="7433017" cy="5400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000000"/>
                </a:solidFill>
                <a:latin typeface="Arapey Bold"/>
                <a:ea typeface="Arapey Bold"/>
                <a:cs typeface="Arapey Bold"/>
                <a:sym typeface="Arapey Bold"/>
              </a:rPr>
              <a:t>Evaluation Metrics</a:t>
            </a:r>
          </a:p>
          <a:p>
            <a:pPr algn="l">
              <a:lnSpc>
                <a:spcPts val="4799"/>
              </a:lnSpc>
            </a:pP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Accuracy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Pr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ecision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Recall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F1-score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ROC-AUC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Confusion Matrix</a:t>
            </a:r>
          </a:p>
          <a:p>
            <a:pPr algn="l" marL="0" indent="0" lvl="0">
              <a:lnSpc>
                <a:spcPts val="479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C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61463" y="3229818"/>
            <a:ext cx="5012292" cy="4562124"/>
          </a:xfrm>
          <a:custGeom>
            <a:avLst/>
            <a:gdLst/>
            <a:ahLst/>
            <a:cxnLst/>
            <a:rect r="r" b="b" t="t" l="l"/>
            <a:pathLst>
              <a:path h="4562124" w="5012292">
                <a:moveTo>
                  <a:pt x="0" y="0"/>
                </a:moveTo>
                <a:lnTo>
                  <a:pt x="5012292" y="0"/>
                </a:lnTo>
                <a:lnTo>
                  <a:pt x="5012292" y="4562124"/>
                </a:lnTo>
                <a:lnTo>
                  <a:pt x="0" y="45621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2664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537571"/>
            <a:ext cx="10352305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5000">
                <a:solidFill>
                  <a:srgbClr val="000000"/>
                </a:solidFill>
                <a:latin typeface="Arapey Bold"/>
                <a:ea typeface="Arapey Bold"/>
                <a:cs typeface="Arapey Bold"/>
                <a:sym typeface="Arapey Bold"/>
              </a:rPr>
              <a:t>MODEL PERFORMANCE COMPARISON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6773755" y="3229818"/>
            <a:ext cx="5012292" cy="4562124"/>
          </a:xfrm>
          <a:custGeom>
            <a:avLst/>
            <a:gdLst/>
            <a:ahLst/>
            <a:cxnLst/>
            <a:rect r="r" b="b" t="t" l="l"/>
            <a:pathLst>
              <a:path h="4562124" w="5012292">
                <a:moveTo>
                  <a:pt x="0" y="0"/>
                </a:moveTo>
                <a:lnTo>
                  <a:pt x="5012293" y="0"/>
                </a:lnTo>
                <a:lnTo>
                  <a:pt x="5012293" y="4562124"/>
                </a:lnTo>
                <a:lnTo>
                  <a:pt x="0" y="45621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26648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1786048" y="3229818"/>
            <a:ext cx="5012292" cy="4562124"/>
          </a:xfrm>
          <a:custGeom>
            <a:avLst/>
            <a:gdLst/>
            <a:ahLst/>
            <a:cxnLst/>
            <a:rect r="r" b="b" t="t" l="l"/>
            <a:pathLst>
              <a:path h="4562124" w="5012292">
                <a:moveTo>
                  <a:pt x="0" y="0"/>
                </a:moveTo>
                <a:lnTo>
                  <a:pt x="5012292" y="0"/>
                </a:lnTo>
                <a:lnTo>
                  <a:pt x="5012292" y="4562124"/>
                </a:lnTo>
                <a:lnTo>
                  <a:pt x="0" y="45621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26648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61463" y="3207006"/>
            <a:ext cx="5012292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501"/>
              </a:lnSpc>
              <a:spcBef>
                <a:spcPct val="0"/>
              </a:spcBef>
            </a:pPr>
            <a:r>
              <a:rPr lang="en-US" sz="4584">
                <a:solidFill>
                  <a:srgbClr val="000000"/>
                </a:solidFill>
                <a:latin typeface="Arapey Bold"/>
                <a:ea typeface="Arapey Bold"/>
                <a:cs typeface="Arapey Bold"/>
                <a:sym typeface="Arapey Bold"/>
              </a:rPr>
              <a:t>MODEL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773755" y="3210768"/>
            <a:ext cx="5012292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501"/>
              </a:lnSpc>
              <a:spcBef>
                <a:spcPct val="0"/>
              </a:spcBef>
            </a:pPr>
            <a:r>
              <a:rPr lang="en-US" sz="4584">
                <a:solidFill>
                  <a:srgbClr val="000000"/>
                </a:solidFill>
                <a:latin typeface="Arapey Bold"/>
                <a:ea typeface="Arapey Bold"/>
                <a:cs typeface="Arapey Bold"/>
                <a:sym typeface="Arapey Bold"/>
              </a:rPr>
              <a:t>STRENGTH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786048" y="3207006"/>
            <a:ext cx="5012292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501"/>
              </a:lnSpc>
              <a:spcBef>
                <a:spcPct val="0"/>
              </a:spcBef>
            </a:pPr>
            <a:r>
              <a:rPr lang="en-US" sz="4584">
                <a:solidFill>
                  <a:srgbClr val="000000"/>
                </a:solidFill>
                <a:latin typeface="Arapey Bold"/>
                <a:ea typeface="Arapey Bold"/>
                <a:cs typeface="Arapey Bold"/>
                <a:sym typeface="Arapey Bold"/>
              </a:rPr>
              <a:t>WEAKNESS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61463" y="4072063"/>
            <a:ext cx="501229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99"/>
              </a:lnSpc>
              <a:spcBef>
                <a:spcPct val="0"/>
              </a:spcBef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Logistic Regression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761463" y="4815013"/>
            <a:ext cx="501229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99"/>
              </a:lnSpc>
              <a:spcBef>
                <a:spcPct val="0"/>
              </a:spcBef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KNN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761463" y="5557963"/>
            <a:ext cx="501229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99"/>
              </a:lnSpc>
              <a:spcBef>
                <a:spcPct val="0"/>
              </a:spcBef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Decision Tree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761463" y="6300913"/>
            <a:ext cx="501229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99"/>
              </a:lnSpc>
              <a:spcBef>
                <a:spcPct val="0"/>
              </a:spcBef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Random Forest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773755" y="4072063"/>
            <a:ext cx="501229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99"/>
              </a:lnSpc>
              <a:spcBef>
                <a:spcPct val="0"/>
              </a:spcBef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Simple, stable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786048" y="4072063"/>
            <a:ext cx="501229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99"/>
              </a:lnSpc>
              <a:spcBef>
                <a:spcPct val="0"/>
              </a:spcBef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Lower accuracy 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773755" y="4815013"/>
            <a:ext cx="501229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99"/>
              </a:lnSpc>
              <a:spcBef>
                <a:spcPct val="0"/>
              </a:spcBef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Easy to interpret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773755" y="5557963"/>
            <a:ext cx="501229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99"/>
              </a:lnSpc>
              <a:spcBef>
                <a:spcPct val="0"/>
              </a:spcBef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Fast, interpretable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773755" y="6310438"/>
            <a:ext cx="5012292" cy="1200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99"/>
              </a:lnSpc>
              <a:spcBef>
                <a:spcPct val="0"/>
              </a:spcBef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Best accuracy, handles non-linear data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786048" y="4815013"/>
            <a:ext cx="501229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99"/>
              </a:lnSpc>
              <a:spcBef>
                <a:spcPct val="0"/>
              </a:spcBef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Sensitive to scaling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786048" y="5557963"/>
            <a:ext cx="501229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99"/>
              </a:lnSpc>
              <a:spcBef>
                <a:spcPct val="0"/>
              </a:spcBef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Overfitting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786048" y="6300913"/>
            <a:ext cx="501229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99"/>
              </a:lnSpc>
              <a:spcBef>
                <a:spcPct val="0"/>
              </a:spcBef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Larger model size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FC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537571"/>
            <a:ext cx="9557941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5000">
                <a:solidFill>
                  <a:srgbClr val="000000"/>
                </a:solidFill>
                <a:latin typeface="Arapey Bold"/>
                <a:ea typeface="Arapey Bold"/>
                <a:cs typeface="Arapey Bold"/>
                <a:sym typeface="Arapey Bold"/>
              </a:rPr>
              <a:t>PREDICTION TESTING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4018485"/>
            <a:ext cx="16230600" cy="3600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Loaded final model +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 preproc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essors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Test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ed with a single new patient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B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atch prediction using a CSV file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Generated c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lassification l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ab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els &amp; probability scores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Saved results to predictions.csv</a:t>
            </a:r>
          </a:p>
          <a:p>
            <a:pPr algn="l" marL="0" indent="0" lvl="0">
              <a:lnSpc>
                <a:spcPts val="479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FC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537571"/>
            <a:ext cx="9557941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5000">
                <a:solidFill>
                  <a:srgbClr val="000000"/>
                </a:solidFill>
                <a:latin typeface="Arapey Bold"/>
                <a:ea typeface="Arapey Bold"/>
                <a:cs typeface="Arapey Bold"/>
                <a:sym typeface="Arapey Bold"/>
              </a:rPr>
              <a:t>DEPLOYMENT (STREAMLIT APP)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718447"/>
            <a:ext cx="16230600" cy="420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User can: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Enter patient medical values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Click Predict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Receive 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immediate CKD / Non-CKD result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View risk probability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App helps doctors and clinics make quicker decisions</a:t>
            </a:r>
          </a:p>
          <a:p>
            <a:pPr algn="l" marL="0" indent="0" lvl="0">
              <a:lnSpc>
                <a:spcPts val="479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FFC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537571"/>
            <a:ext cx="9557941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5000">
                <a:solidFill>
                  <a:srgbClr val="000000"/>
                </a:solidFill>
                <a:latin typeface="Arapey Bold"/>
                <a:ea typeface="Arapey Bold"/>
                <a:cs typeface="Arapey Bold"/>
                <a:sym typeface="Arapey Bold"/>
              </a:rPr>
              <a:t>FOLDER STRUCTURE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718447"/>
            <a:ext cx="16230600" cy="420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CKD-ML-Project/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│ 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notebooks/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│ data/ (raw, processed)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│ models/ final_model.pkl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│ artifacts/ (s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caler, 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encoder)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│ results/ predictions.csv</a:t>
            </a:r>
          </a:p>
          <a:p>
            <a:pPr algn="l" marL="0" indent="0" lvl="0">
              <a:lnSpc>
                <a:spcPts val="479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FFC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537571"/>
            <a:ext cx="9557941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5000">
                <a:solidFill>
                  <a:srgbClr val="000000"/>
                </a:solidFill>
                <a:latin typeface="Arapey Bold"/>
                <a:ea typeface="Arapey Bold"/>
                <a:cs typeface="Arapey Bold"/>
                <a:sym typeface="Arapey Bold"/>
              </a:rPr>
              <a:t>RESULTS &amp; KEY FINDINGS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4318522"/>
            <a:ext cx="16230600" cy="3000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Random Forest achieved highest accuracy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Reliable i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n detecting early CKD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Good at handling noisy and non-linear medical data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Model is suit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able f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or real-world prediction support</a:t>
            </a:r>
          </a:p>
          <a:p>
            <a:pPr algn="l" marL="0" indent="0" lvl="0">
              <a:lnSpc>
                <a:spcPts val="479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FFC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537571"/>
            <a:ext cx="9557941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5000">
                <a:solidFill>
                  <a:srgbClr val="000000"/>
                </a:solidFill>
                <a:latin typeface="Arapey Bold"/>
                <a:ea typeface="Arapey Bold"/>
                <a:cs typeface="Arapey Bold"/>
                <a:sym typeface="Arapey Bold"/>
              </a:rPr>
              <a:t>LIMITATIONS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4318522"/>
            <a:ext cx="16230600" cy="3000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Small dataset (400 records)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Lacks d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emographic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 diversity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S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ome attributes have many missing values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Model does not repl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ace pr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ofessional medical diagnosis</a:t>
            </a:r>
          </a:p>
          <a:p>
            <a:pPr algn="l" marL="0" indent="0" lvl="0">
              <a:lnSpc>
                <a:spcPts val="479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FFC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537571"/>
            <a:ext cx="9557941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5000">
                <a:solidFill>
                  <a:srgbClr val="000000"/>
                </a:solidFill>
                <a:latin typeface="Arapey Bold"/>
                <a:ea typeface="Arapey Bold"/>
                <a:cs typeface="Arapey Bold"/>
                <a:sym typeface="Arapey Bold"/>
              </a:rPr>
              <a:t>CONCLUSION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4318522"/>
            <a:ext cx="16230600" cy="3000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Successfully built an AI syst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em for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 early CKD prediction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Highlights the potential of ML in healthcare decision support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App provides f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ast, consistent predicti</a:t>
            </a: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on results</a:t>
            </a:r>
          </a:p>
          <a:p>
            <a:pPr algn="l" marL="863599" indent="-431800" lvl="1">
              <a:lnSpc>
                <a:spcPts val="4799"/>
              </a:lnSpc>
              <a:buFont typeface="Arial"/>
              <a:buChar char="•"/>
            </a:pPr>
            <a:r>
              <a:rPr lang="en-US" sz="3999">
                <a:solidFill>
                  <a:srgbClr val="000000"/>
                </a:solidFill>
                <a:latin typeface="Arapey"/>
                <a:ea typeface="Arapey"/>
                <a:cs typeface="Arapey"/>
                <a:sym typeface="Arapey"/>
              </a:rPr>
              <a:t>Future improvements: Larger dataset, advanced models, explainable AI</a:t>
            </a:r>
          </a:p>
          <a:p>
            <a:pPr algn="l" marL="0" indent="0" lvl="0">
              <a:lnSpc>
                <a:spcPts val="479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FFC0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828069" y="4538662"/>
            <a:ext cx="6631861" cy="1209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599"/>
              </a:lnSpc>
              <a:spcBef>
                <a:spcPct val="0"/>
              </a:spcBef>
            </a:pPr>
            <a:r>
              <a:rPr lang="en-US" sz="7999">
                <a:solidFill>
                  <a:srgbClr val="000000"/>
                </a:solidFill>
                <a:latin typeface="Arapey Bold"/>
                <a:ea typeface="Arapey Bold"/>
                <a:cs typeface="Arapey Bold"/>
                <a:sym typeface="Arapey 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DAG6dbEYCYk</dc:identifier>
  <dcterms:modified xsi:type="dcterms:W3CDTF">2011-08-01T06:04:30Z</dcterms:modified>
  <cp:revision>1</cp:revision>
  <dc:title>Timeline or Roadmap Slide Presentation in Mustard Black White Style</dc:title>
</cp:coreProperties>
</file>
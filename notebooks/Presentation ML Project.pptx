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bril Fatface" charset="1" panose="02000503000000020003"/>
      <p:regular r:id="rId22"/>
    </p:embeddedFont>
    <p:embeddedFont>
      <p:font typeface="Telegraf" charset="1" panose="00000500000000000000"/>
      <p:regular r:id="rId23"/>
    </p:embeddedFont>
    <p:embeddedFont>
      <p:font typeface="Arapey" charset="1" panose="02000000000000000000"/>
      <p:regular r:id="rId24"/>
    </p:embeddedFont>
    <p:embeddedFont>
      <p:font typeface="Arapey Bold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162306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AI-BASED EARLY PREDICTION OF CHRONIC KIDNEY DISEASE (CKD) USING MACHINE LEARNING MODELS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72819" y="6511837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972819" y="7427102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72819" y="8342367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16601" y="6261440"/>
            <a:ext cx="12654798" cy="694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378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CAROLLISA A/P WADIWILL (202501010307) - BCSSE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72819" y="9256767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16601" y="7181806"/>
            <a:ext cx="13667612" cy="694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378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THILAK A/L KAMALISH KUMAR (202309010104) - BIT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6601" y="8095213"/>
            <a:ext cx="13667612" cy="694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378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SIJAN MD SHAHDAT HOSSAIN (202501010545) - BCSSE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6601" y="9009613"/>
            <a:ext cx="13667612" cy="694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378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DABOOSH AHMED MAHMOOD ALI (202501010453) - BCSSE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947027"/>
            <a:ext cx="162306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BIT 4333</a:t>
            </a:r>
          </a:p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INTRODUCTION TO MACHINE LEARNING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EXECUTIVE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43238"/>
            <a:ext cx="16230600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CKD is a growing global health concern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Early stages show little/no symptoms → difficult to detect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Project aims to build ML model to predict early CKD using simple clinical indicators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Tested multiple models to find the best performer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Deployed using a Streamlit interface for instant prediction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43238"/>
            <a:ext cx="16230600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Many patients discover CKD only at late stages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Early CKD symptoms are mild or invisible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Doctors rely on multiple indicators (BP, creatinine, hemoglobin, urine protein)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Manua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 interpretation can be inconsistent or time-consuming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Need for automated, fast, and accurate prediction support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PROJECT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43312"/>
            <a:ext cx="16230600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Develop a machine-learning-based tool for early CKD detection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Analyze important medical attributes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ompare multiple models to identify best performer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eploy a user-friendly interface for real-time predictions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DATASET INFORMATION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43275"/>
            <a:ext cx="16230600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Source: Kaggle / UCI CKD Dataset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400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patient records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25 clinical attributes + 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CKD l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abel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Includes: BP, sugar, albumin, hemoglobin, creatinine, etc.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Balanced dataset of CKD and non-CKD cases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METHODOLOGY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43238"/>
            <a:ext cx="16230600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Data Collection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Data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Cleaning &amp; Preprocessing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Feature Se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ection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Mo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del Development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Mode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 Evaluation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Deployment using Streamlit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DATA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18335"/>
            <a:ext cx="16230600" cy="600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Cleaned inconsistent tex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 (e.g.,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Yes/yes)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Handled missing values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Numeric → Median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ategorical → Most frequent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Enc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ded categorical features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Scaled numeric features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Train-test sp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lit with stratification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Sav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ed artifacts: encoder.pkl, scaler.pkl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Output: Clean dataset ready for modelling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METHODOLOGY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57512"/>
            <a:ext cx="7433017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Models Trained</a:t>
            </a:r>
          </a:p>
          <a:p>
            <a:pPr algn="l">
              <a:lnSpc>
                <a:spcPts val="4799"/>
              </a:lnSpc>
            </a:pP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Logistic Regression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K-N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earest Neighbors (KNN)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Decision Tree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Random Forest</a:t>
            </a:r>
          </a:p>
          <a:p>
            <a:pPr algn="l">
              <a:lnSpc>
                <a:spcPts val="4799"/>
              </a:lnSpc>
            </a:pP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826283" y="2957512"/>
            <a:ext cx="7433017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Evaluation Metrics</a:t>
            </a:r>
          </a:p>
          <a:p>
            <a:pPr algn="l">
              <a:lnSpc>
                <a:spcPts val="4799"/>
              </a:lnSpc>
            </a:pP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Accuracy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Pr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ecision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Recall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F1-score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ROC-AUC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Confusion Matrix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1463" y="3229818"/>
            <a:ext cx="5012292" cy="4562124"/>
          </a:xfrm>
          <a:custGeom>
            <a:avLst/>
            <a:gdLst/>
            <a:ahLst/>
            <a:cxnLst/>
            <a:rect r="r" b="b" t="t" l="l"/>
            <a:pathLst>
              <a:path h="4562124" w="5012292">
                <a:moveTo>
                  <a:pt x="0" y="0"/>
                </a:moveTo>
                <a:lnTo>
                  <a:pt x="5012292" y="0"/>
                </a:lnTo>
                <a:lnTo>
                  <a:pt x="5012292" y="4562124"/>
                </a:lnTo>
                <a:lnTo>
                  <a:pt x="0" y="4562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64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37571"/>
            <a:ext cx="1035230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MODEL PERFORMANCE COMPARISON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73755" y="3229818"/>
            <a:ext cx="5012292" cy="4562124"/>
          </a:xfrm>
          <a:custGeom>
            <a:avLst/>
            <a:gdLst/>
            <a:ahLst/>
            <a:cxnLst/>
            <a:rect r="r" b="b" t="t" l="l"/>
            <a:pathLst>
              <a:path h="4562124" w="5012292">
                <a:moveTo>
                  <a:pt x="0" y="0"/>
                </a:moveTo>
                <a:lnTo>
                  <a:pt x="5012293" y="0"/>
                </a:lnTo>
                <a:lnTo>
                  <a:pt x="5012293" y="4562124"/>
                </a:lnTo>
                <a:lnTo>
                  <a:pt x="0" y="4562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64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86048" y="3229818"/>
            <a:ext cx="5012292" cy="4562124"/>
          </a:xfrm>
          <a:custGeom>
            <a:avLst/>
            <a:gdLst/>
            <a:ahLst/>
            <a:cxnLst/>
            <a:rect r="r" b="b" t="t" l="l"/>
            <a:pathLst>
              <a:path h="4562124" w="5012292">
                <a:moveTo>
                  <a:pt x="0" y="0"/>
                </a:moveTo>
                <a:lnTo>
                  <a:pt x="5012292" y="0"/>
                </a:lnTo>
                <a:lnTo>
                  <a:pt x="5012292" y="4562124"/>
                </a:lnTo>
                <a:lnTo>
                  <a:pt x="0" y="4562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64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1463" y="3207006"/>
            <a:ext cx="501229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1"/>
              </a:lnSpc>
              <a:spcBef>
                <a:spcPct val="0"/>
              </a:spcBef>
            </a:pPr>
            <a:r>
              <a:rPr lang="en-US" sz="4584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73755" y="3210768"/>
            <a:ext cx="501229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1"/>
              </a:lnSpc>
              <a:spcBef>
                <a:spcPct val="0"/>
              </a:spcBef>
            </a:pPr>
            <a:r>
              <a:rPr lang="en-US" sz="4584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STRENGTH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86048" y="3207006"/>
            <a:ext cx="501229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1"/>
              </a:lnSpc>
              <a:spcBef>
                <a:spcPct val="0"/>
              </a:spcBef>
            </a:pPr>
            <a:r>
              <a:rPr lang="en-US" sz="4584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WEAKNESS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1463" y="407206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Logistic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1463" y="481501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KNN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1463" y="555796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Decision Tree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1463" y="630091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XGBoost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3755" y="407206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Simple, stable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86048" y="407206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Lower accuracy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73755" y="481501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Easy to interpret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73755" y="555796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Fast, interpretable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73755" y="6310438"/>
            <a:ext cx="501229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Best accuracy, handles non-linear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86048" y="481501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Sensitive to scaling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86048" y="555796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Overfitting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86048" y="6300913"/>
            <a:ext cx="50122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Larger model size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PREDICTION TESTING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18485"/>
            <a:ext cx="16230600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Loaded final model +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preproc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essors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Test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ed with a single new patient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B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atch prediction using a CSV file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Generated c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lassification l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ab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els &amp; probability scores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Saved results to predictions.csv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DEPLOYMENT (STREAMLIT APP)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718447"/>
            <a:ext cx="16230600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User can: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Enter patient medical values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Click Predict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Receive 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immediate CKD / Non-CKD result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View risk probability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App helps doctors and clinics make quicker decisions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FOLDER 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718447"/>
            <a:ext cx="16230600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CKD-ML-Project/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│ 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notebooks/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│ data/ (raw, processed)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│ models/ final_model.pkl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│ artifacts/ (s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caler, 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encoder)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│ results/ predictions.csv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RESULTS &amp; KEY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18522"/>
            <a:ext cx="16230600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Decision tree achieved highest accuracy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Reliable i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n detecting early CKD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Good at handling noisy and non-linear medical data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Model is suit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able f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or real-world prediction support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18522"/>
            <a:ext cx="16230600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Small dataset (400 records)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Lacks d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emographic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diversity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ome attributes have many missing values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Model does not repl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ace pr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ofessional medical diagnosis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571"/>
            <a:ext cx="95579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18522"/>
            <a:ext cx="16230600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Successfully built an AI syst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em for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early CKD prediction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Highlights the potential of ML in healthcare decision support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App provides f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ast, consistent predicti</a:t>
            </a: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on results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Future improvements: Larger dataset, advanced models, explainable AI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C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28069" y="4538662"/>
            <a:ext cx="6631861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DAG6dbEYCYk</dc:identifier>
  <dcterms:modified xsi:type="dcterms:W3CDTF">2011-08-01T06:04:30Z</dcterms:modified>
  <cp:revision>1</cp:revision>
  <dc:title>Timeline or Roadmap Slide Presentation in Mustard Black White Style</dc:title>
</cp:coreProperties>
</file>